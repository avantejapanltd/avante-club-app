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119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27272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1828800"/>
            <a:ext cx="3200400" cy="320040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1280160"/>
            <a:ext cx="1188720" cy="118872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173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6400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Club-App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1600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このアプリひとつで、</a:t>
            </a:r>
            <a:r>
              <a:rPr lang="en-US" sz="1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チームのすべて</a:t>
            </a: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がわかる。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22960" y="2331720"/>
            <a:ext cx="2011680" cy="320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606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運用代行パートナー様向け  サービスご提案書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3383280"/>
            <a:ext cx="960120" cy="29260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832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874520" y="3383280"/>
            <a:ext cx="960120" cy="29260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4" name="Text 11"/>
          <p:cNvSpPr/>
          <p:nvPr/>
        </p:nvSpPr>
        <p:spPr>
          <a:xfrm>
            <a:off x="1874520" y="33832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出欠管理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926080" y="3383280"/>
            <a:ext cx="960120" cy="29260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6" name="Text 13"/>
          <p:cNvSpPr/>
          <p:nvPr/>
        </p:nvSpPr>
        <p:spPr>
          <a:xfrm>
            <a:off x="2926080" y="33832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配車管理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977640" y="3383280"/>
            <a:ext cx="960120" cy="29260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8" name="Text 15"/>
          <p:cNvSpPr/>
          <p:nvPr/>
        </p:nvSpPr>
        <p:spPr>
          <a:xfrm>
            <a:off x="3977640" y="33832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会費決済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029200" y="3383280"/>
            <a:ext cx="960120" cy="29260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0" y="33832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経費管理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80760" y="3383280"/>
            <a:ext cx="960120" cy="29260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2" name="Text 19"/>
          <p:cNvSpPr/>
          <p:nvPr/>
        </p:nvSpPr>
        <p:spPr>
          <a:xfrm>
            <a:off x="6080760" y="33832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入会案内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132320" y="3383280"/>
            <a:ext cx="960120" cy="29260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0" y="33832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保険加入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2296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2026年3月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チーム運営の現状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今の運営体制は、持続可能でしょうか？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776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3977640" cy="4572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日本のチーム運営の実態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819656"/>
            <a:ext cx="256032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9222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スケジュール連絡は指導者が手作業で送信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276856"/>
            <a:ext cx="256032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24942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出欠回答の集計・未回答者への催促が煩雑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2734056"/>
            <a:ext cx="256032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0662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配車の取りまとめに毎回大きな労力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191256"/>
            <a:ext cx="256032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6382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会費の徴収・経費精算を保護者が係として担当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188720"/>
            <a:ext cx="39776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188720"/>
            <a:ext cx="3977640" cy="4572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52728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7492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欧米のチーム運営（主流）</a:t>
            </a:r>
            <a:endParaRPr lang="en-US" sz="13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37944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5780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保護者は「見守る」のが基本</a:t>
            </a:r>
            <a:endParaRPr lang="en-US" sz="11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95144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5780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運営業務は専門スタッフやシステムが担当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752344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5780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保護者に係や当番の負担がない</a:t>
            </a:r>
            <a:endParaRPr lang="en-US" sz="11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09544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5780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持続可能な運営が当たり前の仕組み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3" name="Shape 26"/>
          <p:cNvSpPr/>
          <p:nvPr/>
        </p:nvSpPr>
        <p:spPr>
          <a:xfrm>
            <a:off x="548640" y="3977640"/>
            <a:ext cx="4572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27"/>
          <p:cNvSpPr/>
          <p:nvPr/>
        </p:nvSpPr>
        <p:spPr>
          <a:xfrm>
            <a:off x="777240" y="3977640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Club-App のポイント：</a:t>
            </a: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スケジュール連絡は指導者が行いますが、</a:t>
            </a: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出欠連絡をワンタップに簡素化</a:t>
            </a: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。集計・催促の手間をゼロにします。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6" name="Shape 29"/>
          <p:cNvSpPr/>
          <p:nvPr/>
        </p:nvSpPr>
        <p:spPr>
          <a:xfrm>
            <a:off x="548640" y="4617720"/>
            <a:ext cx="4572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0"/>
          <p:cNvSpPr/>
          <p:nvPr/>
        </p:nvSpPr>
        <p:spPr>
          <a:xfrm>
            <a:off x="777240" y="4617720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問われているのは「持続可能な運営体制」。Club-App は、その仕組みをつくります。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Club-App ひとつで、すべて完結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アプリを開くだけで、チームに関するすべての情報・手続きにアクセス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9776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3977640" cy="4114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844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指導者が操作する運営業務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379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7830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スケジュール連絡・共有（指導者が登録）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27685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2219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出欠管理（ワンタップ回答・自動集計）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71576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266090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配車管理（自動割り振り）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15468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3000" y="30998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お知らせ一斉配信（既読管理付き）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617720" y="1234440"/>
            <a:ext cx="39776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617720" y="1234440"/>
            <a:ext cx="3977640" cy="41148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1298448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7492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代理店が運用代行するバックオフィス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1837944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12080" y="17830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会費のオンライン決済・自動徴収</a:t>
            </a:r>
            <a:endParaRPr lang="en-US" sz="11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2276856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12080" y="22219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経費精算（レシート不要・アプリ完結）</a:t>
            </a:r>
            <a:endParaRPr lang="en-US" sz="11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0" y="2715768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212080" y="266090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顧客管理（名簿・入退会管理）</a:t>
            </a:r>
            <a:endParaRPr lang="en-US" sz="11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3154680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212080" y="30998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保険加入手続きの代行</a:t>
            </a:r>
            <a:endParaRPr lang="en-US" sz="1100" dirty="0"/>
          </a:p>
        </p:txBody>
      </p:sp>
      <p:sp>
        <p:nvSpPr>
          <p:cNvPr id="29" name="Shape 17"/>
          <p:cNvSpPr/>
          <p:nvPr/>
        </p:nvSpPr>
        <p:spPr>
          <a:xfrm>
            <a:off x="548640" y="3886200"/>
            <a:ext cx="8046720" cy="27432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30" name="Text 18"/>
          <p:cNvSpPr/>
          <p:nvPr/>
        </p:nvSpPr>
        <p:spPr>
          <a:xfrm>
            <a:off x="82296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さらに、このアプリだけで完結</a:t>
            </a:r>
            <a:endParaRPr lang="en-US" sz="1300" dirty="0"/>
          </a:p>
        </p:txBody>
      </p:sp>
      <p:sp>
        <p:nvSpPr>
          <p:cNvPr id="31" name="Shape 19"/>
          <p:cNvSpPr/>
          <p:nvPr/>
        </p:nvSpPr>
        <p:spPr>
          <a:xfrm>
            <a:off x="548640" y="4434840"/>
            <a:ext cx="1874520" cy="54864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544568"/>
            <a:ext cx="292608" cy="29260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1024128" y="4434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入会申し込み</a:t>
            </a:r>
            <a:endParaRPr lang="en-US" sz="1150" dirty="0"/>
          </a:p>
        </p:txBody>
      </p:sp>
      <p:sp>
        <p:nvSpPr>
          <p:cNvPr id="34" name="Shape 21"/>
          <p:cNvSpPr/>
          <p:nvPr/>
        </p:nvSpPr>
        <p:spPr>
          <a:xfrm>
            <a:off x="2606040" y="4434840"/>
            <a:ext cx="1874520" cy="54864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0" y="4544568"/>
            <a:ext cx="292608" cy="29260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3081528" y="4434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備品購入</a:t>
            </a:r>
            <a:endParaRPr lang="en-US" sz="1150" dirty="0"/>
          </a:p>
        </p:txBody>
      </p:sp>
      <p:sp>
        <p:nvSpPr>
          <p:cNvPr id="37" name="Shape 23"/>
          <p:cNvSpPr/>
          <p:nvPr/>
        </p:nvSpPr>
        <p:spPr>
          <a:xfrm>
            <a:off x="4663440" y="4434840"/>
            <a:ext cx="1874520" cy="54864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0600" y="4544568"/>
            <a:ext cx="292608" cy="292608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5138928" y="4434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個人情報管理</a:t>
            </a:r>
            <a:endParaRPr lang="en-US" sz="1150" dirty="0"/>
          </a:p>
        </p:txBody>
      </p:sp>
      <p:sp>
        <p:nvSpPr>
          <p:cNvPr id="40" name="Shape 25"/>
          <p:cNvSpPr/>
          <p:nvPr/>
        </p:nvSpPr>
        <p:spPr>
          <a:xfrm>
            <a:off x="6720840" y="4434840"/>
            <a:ext cx="1874520" cy="54864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0" y="4544568"/>
            <a:ext cx="292608" cy="292608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7196328" y="4434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保険加入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Club-App 導入で変わること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4572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280160"/>
            <a:ext cx="594360" cy="59436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3441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77440" y="1188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保護者は「見守る」だけでOK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37744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出欠集計・配車手配・連絡回覧・会費管理など、保護者が係として担っていた業務をアプリ＋代理店が代行。保護者に係や当番を立てる必要がなくなります。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33172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2331720"/>
            <a:ext cx="4572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2560320"/>
            <a:ext cx="594360" cy="594360"/>
          </a:xfrm>
          <a:prstGeom prst="ellipse">
            <a:avLst/>
          </a:prstGeom>
          <a:solidFill>
            <a:srgbClr val="FFFBEB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262432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77440" y="2468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指導者が指導に集中できる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377440" y="2834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スケジュール登録は指導者が行いますが、出欠集計・保護者対応・経費処理などの事務はアプリが自動化。指導者が本来の業務に専念できます。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6118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3611880"/>
            <a:ext cx="45720" cy="109728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0" name="Shape 16"/>
          <p:cNvSpPr/>
          <p:nvPr/>
        </p:nvSpPr>
        <p:spPr>
          <a:xfrm>
            <a:off x="868680" y="3840480"/>
            <a:ext cx="594360" cy="594360"/>
          </a:xfrm>
          <a:prstGeom prst="ellipse">
            <a:avLst/>
          </a:prstGeom>
          <a:solidFill>
            <a:srgbClr val="F4F4F5"/>
          </a:solidFill>
          <a:ln/>
        </p:spPr>
      </p:sp>
      <p:sp>
        <p:nvSpPr>
          <p:cNvPr id="21" name="Text 17"/>
          <p:cNvSpPr/>
          <p:nvPr/>
        </p:nvSpPr>
        <p:spPr>
          <a:xfrm>
            <a:off x="868680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3904488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377440" y="3749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決済・顧客管理・保険はプロが運用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2377440" y="4114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会費のオンライン決済、顧客情報管理、保険加入手続きは専門チームが運用代行。個人情報保護やセキュリティ面も万全の体制で安心です。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具体的な運用イメージ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指導者と代理店、それぞれの役割分担が明確です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3977640" cy="4572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9844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指導者が行うこと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1874520"/>
            <a:ext cx="685800" cy="2743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8745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月初〜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0020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スケジュール登録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60020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練習・試合の予定をアプリに登録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115568" y="2240280"/>
            <a:ext cx="0" cy="457200"/>
          </a:xfrm>
          <a:prstGeom prst="line">
            <a:avLst/>
          </a:prstGeom>
          <a:noFill/>
          <a:ln w="12700">
            <a:solidFill>
              <a:srgbClr val="E4E4E7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777240" y="2743200"/>
            <a:ext cx="685800" cy="2743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27432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随時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600200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お知らせ配信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60020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テンプレートで簡単に一斉通知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115568" y="3108960"/>
            <a:ext cx="0" cy="457200"/>
          </a:xfrm>
          <a:prstGeom prst="line">
            <a:avLst/>
          </a:prstGeom>
          <a:noFill/>
          <a:ln w="12700">
            <a:solidFill>
              <a:srgbClr val="E4E4E7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777240" y="3611880"/>
            <a:ext cx="685800" cy="2743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3611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600200" y="3593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出欠状況の確認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600200" y="3886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自動集計された結果を確認するだけ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17720" y="123444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17720" y="1234440"/>
            <a:ext cx="3977640" cy="4572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98448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66360" y="1234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代理店が行うこと（バックオフィス）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846320" y="1874520"/>
            <a:ext cx="685800" cy="27432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8" name="Text 24"/>
          <p:cNvSpPr/>
          <p:nvPr/>
        </p:nvSpPr>
        <p:spPr>
          <a:xfrm>
            <a:off x="4846320" y="18745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随時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66928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会費の決済処理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66928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オンライン決済・未納アラート自動化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5184648" y="2240280"/>
            <a:ext cx="0" cy="457200"/>
          </a:xfrm>
          <a:prstGeom prst="line">
            <a:avLst/>
          </a:prstGeom>
          <a:noFill/>
          <a:ln w="12700">
            <a:solidFill>
              <a:srgbClr val="E4E4E7"/>
            </a:solidFill>
            <a:prstDash val="dash"/>
          </a:ln>
        </p:spPr>
      </p:sp>
      <p:sp>
        <p:nvSpPr>
          <p:cNvPr id="32" name="Shape 28"/>
          <p:cNvSpPr/>
          <p:nvPr/>
        </p:nvSpPr>
        <p:spPr>
          <a:xfrm>
            <a:off x="4846320" y="2743200"/>
            <a:ext cx="685800" cy="27432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3" name="Text 29"/>
          <p:cNvSpPr/>
          <p:nvPr/>
        </p:nvSpPr>
        <p:spPr>
          <a:xfrm>
            <a:off x="4846320" y="27432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随時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669280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経費精算・保険手続き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566928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アプリで完結＋保険加入を代行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5184648" y="3108960"/>
            <a:ext cx="0" cy="457200"/>
          </a:xfrm>
          <a:prstGeom prst="line">
            <a:avLst/>
          </a:prstGeom>
          <a:noFill/>
          <a:ln w="12700">
            <a:solidFill>
              <a:srgbClr val="E4E4E7"/>
            </a:solidFill>
            <a:prstDash val="dash"/>
          </a:ln>
        </p:spPr>
      </p:sp>
      <p:sp>
        <p:nvSpPr>
          <p:cNvPr id="37" name="Shape 33"/>
          <p:cNvSpPr/>
          <p:nvPr/>
        </p:nvSpPr>
        <p:spPr>
          <a:xfrm>
            <a:off x="4846320" y="3611880"/>
            <a:ext cx="685800" cy="27432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8" name="Text 34"/>
          <p:cNvSpPr/>
          <p:nvPr/>
        </p:nvSpPr>
        <p:spPr>
          <a:xfrm>
            <a:off x="4846320" y="3611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月末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5669280" y="3593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レポート・顧客管理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5669280" y="3886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収支・出席率を自動集計し報告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導入までの流れ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お申し込みから運用開始まで最短2週間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0160"/>
            <a:ext cx="1965960" cy="4572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63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74420" y="1783080"/>
            <a:ext cx="640080" cy="640080"/>
          </a:xfrm>
          <a:prstGeom prst="ellipse">
            <a:avLst/>
          </a:prstGeom>
          <a:solidFill>
            <a:srgbClr val="18181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19202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560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お問い合わせ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ヒアリング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108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担当チーム数・運営体制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現在のお困りごとをヒアリング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5800" y="3931920"/>
            <a:ext cx="1417320" cy="32004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9319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1–3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2468880"/>
            <a:ext cx="228600" cy="228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606040" y="128016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606040" y="1280160"/>
            <a:ext cx="196596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3"/>
          <p:cNvSpPr/>
          <p:nvPr/>
        </p:nvSpPr>
        <p:spPr>
          <a:xfrm>
            <a:off x="2606040" y="1463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268980" y="178308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6140" y="19202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97480" y="2560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プラン選定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ご契約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697480" y="3108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最適なプランをご提案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代理店特別条件でご契約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880360" y="3931920"/>
            <a:ext cx="1417320" cy="32004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3" name="Text 18"/>
          <p:cNvSpPr/>
          <p:nvPr/>
        </p:nvSpPr>
        <p:spPr>
          <a:xfrm>
            <a:off x="2880360" y="39319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4–7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468880"/>
            <a:ext cx="228600" cy="2286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800600" y="128016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00600" y="1280160"/>
            <a:ext cx="196596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1"/>
          <p:cNvSpPr/>
          <p:nvPr/>
        </p:nvSpPr>
        <p:spPr>
          <a:xfrm>
            <a:off x="4800600" y="1463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463540" y="178308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192024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892040" y="2560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初期設定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オンライン研修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892040" y="3108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アカウント発行・データ登録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操作研修（約2時間）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5074920" y="3931920"/>
            <a:ext cx="1417320" cy="32004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33" name="Text 26"/>
          <p:cNvSpPr/>
          <p:nvPr/>
        </p:nvSpPr>
        <p:spPr>
          <a:xfrm>
            <a:off x="5074920" y="39319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8–12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468880"/>
            <a:ext cx="228600" cy="2286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6995160" y="128016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995160" y="1280160"/>
            <a:ext cx="1965960" cy="457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7" name="Text 29"/>
          <p:cNvSpPr/>
          <p:nvPr/>
        </p:nvSpPr>
        <p:spPr>
          <a:xfrm>
            <a:off x="6995160" y="1463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7658100" y="1783080"/>
            <a:ext cx="640080" cy="640080"/>
          </a:xfrm>
          <a:prstGeom prst="ellipse">
            <a:avLst/>
          </a:prstGeom>
          <a:solidFill>
            <a:srgbClr val="047857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5260" y="1920240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086600" y="2560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運用開始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7086600" y="3108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専任サポート付きで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本番運用スタート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7269480" y="3931920"/>
            <a:ext cx="1417320" cy="32004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43" name="Text 34"/>
          <p:cNvSpPr/>
          <p:nvPr/>
        </p:nvSpPr>
        <p:spPr>
          <a:xfrm>
            <a:off x="7269480" y="39319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料金プラン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シンプルで分かりやすい料金体系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73152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280160"/>
            <a:ext cx="73152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554480"/>
            <a:ext cx="3200400" cy="182880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7373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選手・指導者（個人利用）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20240" y="1938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広告なし・全機能利用可能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88720" y="2377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 </a:t>
            </a:r>
            <a:r>
              <a:rPr lang="en-US" sz="4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¥165</a:t>
            </a:r>
            <a:r>
              <a:rPr lang="en-US" sz="16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/人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54880" y="1554480"/>
            <a:ext cx="3200400" cy="1828800"/>
          </a:xfrm>
          <a:prstGeom prst="rect">
            <a:avLst/>
          </a:prstGeom>
          <a:solidFill>
            <a:srgbClr val="F4F4F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7373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チームとしての支出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0" y="1938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決済代行＋経費精算サービス利用料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754880" y="2377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 </a:t>
            </a:r>
            <a:r>
              <a:rPr lang="en-US" sz="4800" b="1" dirty="0">
                <a:solidFill>
                  <a:srgbClr val="1818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¥2,200</a:t>
            </a:r>
            <a:r>
              <a:rPr lang="en-US" sz="16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のみ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188720" y="3566160"/>
            <a:ext cx="6766560" cy="27432"/>
          </a:xfrm>
          <a:prstGeom prst="rect">
            <a:avLst/>
          </a:prstGeom>
          <a:solidFill>
            <a:srgbClr val="E4E4E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794760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27632" y="3749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出欠管理・配車管理</a:t>
            </a:r>
            <a:endParaRPr lang="en-US" sz="9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912" y="379476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980944" y="3749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会費オンライン決済</a:t>
            </a:r>
            <a:endParaRPr lang="en-US" sz="9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224" y="3794760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34256" y="3749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経費精算</a:t>
            </a:r>
            <a:endParaRPr lang="en-US" sz="9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3794760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687568" y="3749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</a:t>
            </a:r>
            <a:endParaRPr lang="en-US" sz="9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3794760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40880" y="3749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保険加入代行</a:t>
            </a:r>
            <a:endParaRPr lang="en-US" sz="950" dirty="0"/>
          </a:p>
        </p:txBody>
      </p:sp>
      <p:sp>
        <p:nvSpPr>
          <p:cNvPr id="28" name="Text 19"/>
          <p:cNvSpPr/>
          <p:nvPr/>
        </p:nvSpPr>
        <p:spPr>
          <a:xfrm>
            <a:off x="914400" y="4297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表示価格はすべて税込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7272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6400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Club-App で、</a:t>
            </a:r>
            <a:endParaRPr lang="en-US" sz="3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持続可能なチーム運営を。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顧客管理・決済管理・保険加入のプロが運用するから、安心して任せられます。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2560320"/>
            <a:ext cx="2194560" cy="320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2834640"/>
            <a:ext cx="5120640" cy="1737360"/>
          </a:xfrm>
          <a:prstGeom prst="rect">
            <a:avLst/>
          </a:prstGeom>
          <a:solidFill>
            <a:srgbClr val="FFFFFF">
              <a:alpha val="93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info@club-app.jp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電話番号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03-XXXX-XXXX（平日 9:00–18:00）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https://club-app.jp/partner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まずはお気軽にお問い合わせください。無料デモも実施中です。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Macintosh PowerPoint</Application>
  <PresentationFormat>画面に合わせる (16:9)</PresentationFormat>
  <Paragraphs>135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Club-App 運用代行パートナー様向けご提案書</dc:title>
  <dc:subject>PptxGenJS Presentation</dc:subject>
  <dc:creator>Club-App</dc:creator>
  <cp:lastModifiedBy>和知 健太</cp:lastModifiedBy>
  <cp:revision>1</cp:revision>
  <dcterms:created xsi:type="dcterms:W3CDTF">2026-03-26T07:37:53Z</dcterms:created>
  <dcterms:modified xsi:type="dcterms:W3CDTF">2026-03-27T00:14:26Z</dcterms:modified>
</cp:coreProperties>
</file>